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Semi-Bold" charset="1" panose="00000700000000000000"/>
      <p:regular r:id="rId18"/>
    </p:embeddedFont>
    <p:embeddedFont>
      <p:font typeface="Open Sans Bold" charset="1" panose="000000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57501" y="8066575"/>
            <a:ext cx="0" cy="867546"/>
          </a:xfrm>
          <a:prstGeom prst="line">
            <a:avLst/>
          </a:prstGeom>
          <a:ln cap="rnd" w="57150">
            <a:solidFill>
              <a:srgbClr val="60A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191726" y="1580598"/>
            <a:ext cx="7244181" cy="72441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9354" y="-4277500"/>
            <a:ext cx="7116554" cy="71165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1726" y="6977077"/>
            <a:ext cx="7244181" cy="72441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75838" y="3718918"/>
            <a:ext cx="7905126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959"/>
              </a:lnSpc>
            </a:pPr>
            <a:r>
              <a:rPr lang="en-US" b="true" sz="6399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Mutual Fund</a:t>
            </a:r>
          </a:p>
          <a:p>
            <a:pPr algn="just" marL="0" indent="0" lvl="0">
              <a:lnSpc>
                <a:spcPts val="8959"/>
              </a:lnSpc>
            </a:pPr>
            <a:r>
              <a:rPr lang="en-US" b="true" sz="6399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Analytics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4608" y="8028475"/>
            <a:ext cx="3976232" cy="67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1"/>
              </a:lnSpc>
            </a:pPr>
            <a:r>
              <a:rPr lang="en-US" b="true" sz="2165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 Krithik S</a:t>
            </a:r>
          </a:p>
          <a:p>
            <a:pPr algn="l" marL="0" indent="0" lvl="0">
              <a:lnSpc>
                <a:spcPts val="247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197444"/>
            <a:ext cx="10431099" cy="69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8"/>
              </a:lnSpc>
            </a:pPr>
            <a:r>
              <a:rPr lang="en-US" b="true" sz="4937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Problem Statement &amp;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49619" y="3867444"/>
            <a:ext cx="10909681" cy="5390856"/>
            <a:chOff x="0" y="0"/>
            <a:chExt cx="2873332" cy="14198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3332" cy="1419814"/>
            </a:xfrm>
            <a:custGeom>
              <a:avLst/>
              <a:gdLst/>
              <a:ahLst/>
              <a:cxnLst/>
              <a:rect r="r" b="b" t="t" l="l"/>
              <a:pathLst>
                <a:path h="1419814" w="2873332">
                  <a:moveTo>
                    <a:pt x="10645" y="0"/>
                  </a:moveTo>
                  <a:lnTo>
                    <a:pt x="2862687" y="0"/>
                  </a:lnTo>
                  <a:cubicBezTo>
                    <a:pt x="2868566" y="0"/>
                    <a:pt x="2873332" y="4766"/>
                    <a:pt x="2873332" y="10645"/>
                  </a:cubicBezTo>
                  <a:lnTo>
                    <a:pt x="2873332" y="1409169"/>
                  </a:lnTo>
                  <a:cubicBezTo>
                    <a:pt x="2873332" y="1411993"/>
                    <a:pt x="2872210" y="1414700"/>
                    <a:pt x="2870214" y="1416696"/>
                  </a:cubicBezTo>
                  <a:cubicBezTo>
                    <a:pt x="2868218" y="1418693"/>
                    <a:pt x="2865510" y="1419814"/>
                    <a:pt x="2862687" y="1419814"/>
                  </a:cubicBezTo>
                  <a:lnTo>
                    <a:pt x="10645" y="1419814"/>
                  </a:lnTo>
                  <a:cubicBezTo>
                    <a:pt x="4766" y="1419814"/>
                    <a:pt x="0" y="1415048"/>
                    <a:pt x="0" y="1409169"/>
                  </a:cubicBezTo>
                  <a:lnTo>
                    <a:pt x="0" y="10645"/>
                  </a:lnTo>
                  <a:cubicBezTo>
                    <a:pt x="0" y="7821"/>
                    <a:pt x="1121" y="5114"/>
                    <a:pt x="3118" y="3118"/>
                  </a:cubicBezTo>
                  <a:cubicBezTo>
                    <a:pt x="5114" y="1121"/>
                    <a:pt x="7821" y="0"/>
                    <a:pt x="106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D9F9">
                    <a:alpha val="100000"/>
                  </a:srgbClr>
                </a:gs>
                <a:gs pos="100000">
                  <a:srgbClr val="F4F9F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873332" cy="1467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52208" y="4327522"/>
            <a:ext cx="9595167" cy="815978"/>
            <a:chOff x="0" y="0"/>
            <a:chExt cx="2527122" cy="214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7122" cy="214908"/>
            </a:xfrm>
            <a:custGeom>
              <a:avLst/>
              <a:gdLst/>
              <a:ahLst/>
              <a:cxnLst/>
              <a:rect r="r" b="b" t="t" l="l"/>
              <a:pathLst>
                <a:path h="214908" w="2527122">
                  <a:moveTo>
                    <a:pt x="40343" y="0"/>
                  </a:moveTo>
                  <a:lnTo>
                    <a:pt x="2486779" y="0"/>
                  </a:lnTo>
                  <a:cubicBezTo>
                    <a:pt x="2509060" y="0"/>
                    <a:pt x="2527122" y="18062"/>
                    <a:pt x="2527122" y="40343"/>
                  </a:cubicBezTo>
                  <a:lnTo>
                    <a:pt x="2527122" y="174565"/>
                  </a:lnTo>
                  <a:cubicBezTo>
                    <a:pt x="2527122" y="196846"/>
                    <a:pt x="2509060" y="214908"/>
                    <a:pt x="2486779" y="214908"/>
                  </a:cubicBezTo>
                  <a:lnTo>
                    <a:pt x="40343" y="214908"/>
                  </a:lnTo>
                  <a:cubicBezTo>
                    <a:pt x="18062" y="214908"/>
                    <a:pt x="0" y="196846"/>
                    <a:pt x="0" y="174565"/>
                  </a:cubicBezTo>
                  <a:lnTo>
                    <a:pt x="0" y="40343"/>
                  </a:lnTo>
                  <a:cubicBezTo>
                    <a:pt x="0" y="18062"/>
                    <a:pt x="18062" y="0"/>
                    <a:pt x="40343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27122" cy="26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52208" y="5510548"/>
            <a:ext cx="9595167" cy="815978"/>
            <a:chOff x="0" y="0"/>
            <a:chExt cx="2527122" cy="2149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27122" cy="214908"/>
            </a:xfrm>
            <a:custGeom>
              <a:avLst/>
              <a:gdLst/>
              <a:ahLst/>
              <a:cxnLst/>
              <a:rect r="r" b="b" t="t" l="l"/>
              <a:pathLst>
                <a:path h="214908" w="2527122">
                  <a:moveTo>
                    <a:pt x="40343" y="0"/>
                  </a:moveTo>
                  <a:lnTo>
                    <a:pt x="2486779" y="0"/>
                  </a:lnTo>
                  <a:cubicBezTo>
                    <a:pt x="2509060" y="0"/>
                    <a:pt x="2527122" y="18062"/>
                    <a:pt x="2527122" y="40343"/>
                  </a:cubicBezTo>
                  <a:lnTo>
                    <a:pt x="2527122" y="174565"/>
                  </a:lnTo>
                  <a:cubicBezTo>
                    <a:pt x="2527122" y="196846"/>
                    <a:pt x="2509060" y="214908"/>
                    <a:pt x="2486779" y="214908"/>
                  </a:cubicBezTo>
                  <a:lnTo>
                    <a:pt x="40343" y="214908"/>
                  </a:lnTo>
                  <a:cubicBezTo>
                    <a:pt x="18062" y="214908"/>
                    <a:pt x="0" y="196846"/>
                    <a:pt x="0" y="174565"/>
                  </a:cubicBezTo>
                  <a:lnTo>
                    <a:pt x="0" y="40343"/>
                  </a:lnTo>
                  <a:cubicBezTo>
                    <a:pt x="0" y="18062"/>
                    <a:pt x="18062" y="0"/>
                    <a:pt x="40343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527122" cy="26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52208" y="6698001"/>
            <a:ext cx="9595167" cy="815978"/>
            <a:chOff x="0" y="0"/>
            <a:chExt cx="2527122" cy="2149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27122" cy="214908"/>
            </a:xfrm>
            <a:custGeom>
              <a:avLst/>
              <a:gdLst/>
              <a:ahLst/>
              <a:cxnLst/>
              <a:rect r="r" b="b" t="t" l="l"/>
              <a:pathLst>
                <a:path h="214908" w="2527122">
                  <a:moveTo>
                    <a:pt x="40343" y="0"/>
                  </a:moveTo>
                  <a:lnTo>
                    <a:pt x="2486779" y="0"/>
                  </a:lnTo>
                  <a:cubicBezTo>
                    <a:pt x="2509060" y="0"/>
                    <a:pt x="2527122" y="18062"/>
                    <a:pt x="2527122" y="40343"/>
                  </a:cubicBezTo>
                  <a:lnTo>
                    <a:pt x="2527122" y="174565"/>
                  </a:lnTo>
                  <a:cubicBezTo>
                    <a:pt x="2527122" y="196846"/>
                    <a:pt x="2509060" y="214908"/>
                    <a:pt x="2486779" y="214908"/>
                  </a:cubicBezTo>
                  <a:lnTo>
                    <a:pt x="40343" y="214908"/>
                  </a:lnTo>
                  <a:cubicBezTo>
                    <a:pt x="18062" y="214908"/>
                    <a:pt x="0" y="196846"/>
                    <a:pt x="0" y="174565"/>
                  </a:cubicBezTo>
                  <a:lnTo>
                    <a:pt x="0" y="40343"/>
                  </a:lnTo>
                  <a:cubicBezTo>
                    <a:pt x="0" y="18062"/>
                    <a:pt x="18062" y="0"/>
                    <a:pt x="40343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527122" cy="26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52208" y="7885454"/>
            <a:ext cx="9595167" cy="815978"/>
            <a:chOff x="0" y="0"/>
            <a:chExt cx="2527122" cy="2149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27122" cy="214908"/>
            </a:xfrm>
            <a:custGeom>
              <a:avLst/>
              <a:gdLst/>
              <a:ahLst/>
              <a:cxnLst/>
              <a:rect r="r" b="b" t="t" l="l"/>
              <a:pathLst>
                <a:path h="214908" w="2527122">
                  <a:moveTo>
                    <a:pt x="40343" y="0"/>
                  </a:moveTo>
                  <a:lnTo>
                    <a:pt x="2486779" y="0"/>
                  </a:lnTo>
                  <a:cubicBezTo>
                    <a:pt x="2509060" y="0"/>
                    <a:pt x="2527122" y="18062"/>
                    <a:pt x="2527122" y="40343"/>
                  </a:cubicBezTo>
                  <a:lnTo>
                    <a:pt x="2527122" y="174565"/>
                  </a:lnTo>
                  <a:cubicBezTo>
                    <a:pt x="2527122" y="196846"/>
                    <a:pt x="2509060" y="214908"/>
                    <a:pt x="2486779" y="214908"/>
                  </a:cubicBezTo>
                  <a:lnTo>
                    <a:pt x="40343" y="214908"/>
                  </a:lnTo>
                  <a:cubicBezTo>
                    <a:pt x="18062" y="214908"/>
                    <a:pt x="0" y="196846"/>
                    <a:pt x="0" y="174565"/>
                  </a:cubicBezTo>
                  <a:lnTo>
                    <a:pt x="0" y="40343"/>
                  </a:lnTo>
                  <a:cubicBezTo>
                    <a:pt x="0" y="18062"/>
                    <a:pt x="18062" y="0"/>
                    <a:pt x="40343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527122" cy="26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867444"/>
            <a:ext cx="4720422" cy="6883263"/>
            <a:chOff x="0" y="0"/>
            <a:chExt cx="731317" cy="10663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317" cy="1066398"/>
            </a:xfrm>
            <a:custGeom>
              <a:avLst/>
              <a:gdLst/>
              <a:ahLst/>
              <a:cxnLst/>
              <a:rect r="r" b="b" t="t" l="l"/>
              <a:pathLst>
                <a:path h="1066398" w="731317">
                  <a:moveTo>
                    <a:pt x="22961" y="0"/>
                  </a:moveTo>
                  <a:lnTo>
                    <a:pt x="708356" y="0"/>
                  </a:lnTo>
                  <a:cubicBezTo>
                    <a:pt x="714445" y="0"/>
                    <a:pt x="720286" y="2419"/>
                    <a:pt x="724592" y="6725"/>
                  </a:cubicBezTo>
                  <a:cubicBezTo>
                    <a:pt x="728898" y="11031"/>
                    <a:pt x="731317" y="16872"/>
                    <a:pt x="731317" y="22961"/>
                  </a:cubicBezTo>
                  <a:lnTo>
                    <a:pt x="731317" y="1043436"/>
                  </a:lnTo>
                  <a:cubicBezTo>
                    <a:pt x="731317" y="1049526"/>
                    <a:pt x="728898" y="1055366"/>
                    <a:pt x="724592" y="1059672"/>
                  </a:cubicBezTo>
                  <a:cubicBezTo>
                    <a:pt x="720286" y="1063978"/>
                    <a:pt x="714445" y="1066398"/>
                    <a:pt x="708356" y="1066398"/>
                  </a:cubicBezTo>
                  <a:lnTo>
                    <a:pt x="22961" y="1066398"/>
                  </a:lnTo>
                  <a:cubicBezTo>
                    <a:pt x="16872" y="1066398"/>
                    <a:pt x="11031" y="1063978"/>
                    <a:pt x="6725" y="1059672"/>
                  </a:cubicBezTo>
                  <a:cubicBezTo>
                    <a:pt x="2419" y="1055366"/>
                    <a:pt x="0" y="1049526"/>
                    <a:pt x="0" y="1043436"/>
                  </a:cubicBezTo>
                  <a:lnTo>
                    <a:pt x="0" y="22961"/>
                  </a:lnTo>
                  <a:cubicBezTo>
                    <a:pt x="0" y="16872"/>
                    <a:pt x="2419" y="11031"/>
                    <a:pt x="6725" y="6725"/>
                  </a:cubicBezTo>
                  <a:cubicBezTo>
                    <a:pt x="11031" y="2419"/>
                    <a:pt x="16872" y="0"/>
                    <a:pt x="22961" y="0"/>
                  </a:cubicBezTo>
                  <a:close/>
                </a:path>
              </a:pathLst>
            </a:custGeom>
            <a:blipFill>
              <a:blip r:embed="rId4"/>
              <a:stretch>
                <a:fillRect l="-398" t="0" r="-398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043819" y="-4496808"/>
            <a:ext cx="7244181" cy="724418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255701" y="1080396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97039" y="4500580"/>
            <a:ext cx="8705506" cy="34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</a:pPr>
            <a:r>
              <a:rPr lang="en-US" sz="20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Mutual fund data scattered across multiple datasets, hindering analysis.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97039" y="5685819"/>
            <a:ext cx="8705506" cy="34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</a:pPr>
            <a:r>
              <a:rPr lang="en-US" sz="20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Investors struggle to compare fund performance without dynamic tools.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29291" y="6869451"/>
            <a:ext cx="9150337" cy="34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</a:pPr>
            <a:r>
              <a:rPr lang="en-US" sz="20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an ETL pipeline, compute risk metrics, and analyze fund performance.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97039" y="8058512"/>
            <a:ext cx="8705506" cy="34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</a:pPr>
            <a:r>
              <a:rPr lang="en-US" sz="203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 interactive Power BI dashboards with fund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022616" cy="2009215"/>
            <a:chOff x="0" y="0"/>
            <a:chExt cx="796080" cy="529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2692" y="5143500"/>
            <a:ext cx="3022616" cy="2009215"/>
            <a:chOff x="0" y="0"/>
            <a:chExt cx="796080" cy="529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30696" y="5143500"/>
            <a:ext cx="3022616" cy="2009215"/>
            <a:chOff x="0" y="0"/>
            <a:chExt cx="796080" cy="529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31533" y="5143500"/>
            <a:ext cx="3022616" cy="2009215"/>
            <a:chOff x="0" y="0"/>
            <a:chExt cx="796080" cy="529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30373" y="5143500"/>
            <a:ext cx="3022616" cy="2009215"/>
            <a:chOff x="0" y="0"/>
            <a:chExt cx="796080" cy="529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6706187"/>
            <a:ext cx="3022616" cy="2552113"/>
            <a:chOff x="0" y="0"/>
            <a:chExt cx="796080" cy="672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32692" y="6706187"/>
            <a:ext cx="3022616" cy="2552113"/>
            <a:chOff x="0" y="0"/>
            <a:chExt cx="796080" cy="6721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30696" y="6706187"/>
            <a:ext cx="3022616" cy="2552113"/>
            <a:chOff x="0" y="0"/>
            <a:chExt cx="796080" cy="672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31533" y="6706187"/>
            <a:ext cx="3022616" cy="2552113"/>
            <a:chOff x="0" y="0"/>
            <a:chExt cx="796080" cy="6721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30373" y="6706187"/>
            <a:ext cx="3022616" cy="2552113"/>
            <a:chOff x="0" y="0"/>
            <a:chExt cx="796080" cy="6721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2258762" y="6480088"/>
            <a:ext cx="562492" cy="452200"/>
            <a:chOff x="0" y="0"/>
            <a:chExt cx="647700" cy="520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8862754" y="6480088"/>
            <a:ext cx="562492" cy="452200"/>
            <a:chOff x="0" y="0"/>
            <a:chExt cx="647700" cy="520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5560758" y="6480088"/>
            <a:ext cx="562492" cy="452200"/>
            <a:chOff x="0" y="0"/>
            <a:chExt cx="647700" cy="520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12161595" y="6480088"/>
            <a:ext cx="562492" cy="452200"/>
            <a:chOff x="0" y="0"/>
            <a:chExt cx="647700" cy="520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15460435" y="6480088"/>
            <a:ext cx="562492" cy="452200"/>
            <a:chOff x="0" y="0"/>
            <a:chExt cx="647700" cy="520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28700" y="1939592"/>
            <a:ext cx="6978472" cy="112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</a:pPr>
            <a:r>
              <a:rPr lang="en-US" b="true" sz="800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Sources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6098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Fund Master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40090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AUM by Fund House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38094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NAV History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38931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Monthly SIP Inflows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537771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Category Inflows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2349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📁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769621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📈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67687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🏦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0778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💹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0662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📊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2342580" y="1112911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928440" cy="2009215"/>
            <a:chOff x="0" y="0"/>
            <a:chExt cx="1034651" cy="529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8590" y="5143500"/>
            <a:ext cx="3928440" cy="2009215"/>
            <a:chOff x="0" y="0"/>
            <a:chExt cx="1034651" cy="529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28481" y="5143500"/>
            <a:ext cx="3928440" cy="2009215"/>
            <a:chOff x="0" y="0"/>
            <a:chExt cx="1034651" cy="529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30860" y="5143500"/>
            <a:ext cx="3928440" cy="2009215"/>
            <a:chOff x="0" y="0"/>
            <a:chExt cx="1034651" cy="529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706187"/>
            <a:ext cx="3928440" cy="2552113"/>
            <a:chOff x="0" y="0"/>
            <a:chExt cx="1034651" cy="6721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8590" y="6706187"/>
            <a:ext cx="3928440" cy="2552113"/>
            <a:chOff x="0" y="0"/>
            <a:chExt cx="1034651" cy="672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28481" y="6706187"/>
            <a:ext cx="3928440" cy="2552113"/>
            <a:chOff x="0" y="0"/>
            <a:chExt cx="1034651" cy="6721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30860" y="6706187"/>
            <a:ext cx="3928440" cy="2552113"/>
            <a:chOff x="0" y="0"/>
            <a:chExt cx="1034651" cy="672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2711674" y="6480088"/>
            <a:ext cx="562492" cy="452200"/>
            <a:chOff x="0" y="0"/>
            <a:chExt cx="647700" cy="520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6811565" y="6480088"/>
            <a:ext cx="562492" cy="452200"/>
            <a:chOff x="0" y="0"/>
            <a:chExt cx="647700" cy="520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0912699" y="6480088"/>
            <a:ext cx="562492" cy="452200"/>
            <a:chOff x="0" y="0"/>
            <a:chExt cx="647700" cy="520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5006775" y="6480088"/>
            <a:ext cx="562492" cy="452200"/>
            <a:chOff x="0" y="0"/>
            <a:chExt cx="647700" cy="520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30452" y="1028700"/>
            <a:ext cx="8828848" cy="3169420"/>
            <a:chOff x="0" y="0"/>
            <a:chExt cx="1367820" cy="4910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7820" cy="491026"/>
            </a:xfrm>
            <a:custGeom>
              <a:avLst/>
              <a:gdLst/>
              <a:ahLst/>
              <a:cxnLst/>
              <a:rect r="r" b="b" t="t" l="l"/>
              <a:pathLst>
                <a:path h="491026" w="1367820">
                  <a:moveTo>
                    <a:pt x="12276" y="0"/>
                  </a:moveTo>
                  <a:lnTo>
                    <a:pt x="1355543" y="0"/>
                  </a:lnTo>
                  <a:cubicBezTo>
                    <a:pt x="1358799" y="0"/>
                    <a:pt x="1361922" y="1293"/>
                    <a:pt x="1364224" y="3596"/>
                  </a:cubicBezTo>
                  <a:cubicBezTo>
                    <a:pt x="1366526" y="5898"/>
                    <a:pt x="1367820" y="9021"/>
                    <a:pt x="1367820" y="12276"/>
                  </a:cubicBezTo>
                  <a:lnTo>
                    <a:pt x="1367820" y="478750"/>
                  </a:lnTo>
                  <a:cubicBezTo>
                    <a:pt x="1367820" y="482006"/>
                    <a:pt x="1366526" y="485128"/>
                    <a:pt x="1364224" y="487430"/>
                  </a:cubicBezTo>
                  <a:cubicBezTo>
                    <a:pt x="1361922" y="489733"/>
                    <a:pt x="1358799" y="491026"/>
                    <a:pt x="1355543" y="491026"/>
                  </a:cubicBezTo>
                  <a:lnTo>
                    <a:pt x="12276" y="491026"/>
                  </a:lnTo>
                  <a:cubicBezTo>
                    <a:pt x="9021" y="491026"/>
                    <a:pt x="5898" y="489733"/>
                    <a:pt x="3596" y="487430"/>
                  </a:cubicBezTo>
                  <a:cubicBezTo>
                    <a:pt x="1293" y="485128"/>
                    <a:pt x="0" y="482006"/>
                    <a:pt x="0" y="478750"/>
                  </a:cubicBezTo>
                  <a:lnTo>
                    <a:pt x="0" y="12276"/>
                  </a:lnTo>
                  <a:cubicBezTo>
                    <a:pt x="0" y="9021"/>
                    <a:pt x="1293" y="5898"/>
                    <a:pt x="3596" y="3596"/>
                  </a:cubicBezTo>
                  <a:cubicBezTo>
                    <a:pt x="5898" y="1293"/>
                    <a:pt x="9021" y="0"/>
                    <a:pt x="12276" y="0"/>
                  </a:cubicBezTo>
                  <a:close/>
                </a:path>
              </a:pathLst>
            </a:custGeom>
            <a:blipFill>
              <a:blip r:embed="rId2"/>
              <a:stretch>
                <a:fillRect l="-383" t="0" r="-383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432349" y="5476777"/>
            <a:ext cx="312114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Ingestion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16212" y="5476777"/>
            <a:ext cx="312114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ETL Pipeline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19006" y="5476777"/>
            <a:ext cx="312114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Analytics Engine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33374" y="7628965"/>
            <a:ext cx="3121143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Financial Metrics</a:t>
            </a:r>
          </a:p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SQLite DB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27449" y="7430303"/>
            <a:ext cx="3121143" cy="129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Dashboard</a:t>
            </a:r>
          </a:p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Business Insights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14146" y="5476777"/>
            <a:ext cx="312114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 Layer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8845" y="2260021"/>
            <a:ext cx="5515802" cy="180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5"/>
              </a:lnSpc>
            </a:pPr>
            <a:r>
              <a:rPr lang="en-US" b="true" sz="6821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  <a:p>
            <a:pPr algn="l" marL="0" indent="0" lvl="0">
              <a:lnSpc>
                <a:spcPts val="6685"/>
              </a:lnSpc>
            </a:pPr>
            <a:r>
              <a:rPr lang="en-US" b="true" sz="6821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Architecture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32349" y="7676590"/>
            <a:ext cx="3089090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Raw CSV Files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548266" y="7676590"/>
            <a:ext cx="3089090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Cleaning</a:t>
            </a:r>
          </a:p>
          <a:p>
            <a:pPr algn="ctr" marL="0" indent="0" lvl="0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→ Feature Eng.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008845" y="823375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2195884" y="1044463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96462" y="1128021"/>
            <a:ext cx="7662838" cy="3642637"/>
            <a:chOff x="0" y="0"/>
            <a:chExt cx="1187174" cy="564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174" cy="564340"/>
            </a:xfrm>
            <a:custGeom>
              <a:avLst/>
              <a:gdLst/>
              <a:ahLst/>
              <a:cxnLst/>
              <a:rect r="r" b="b" t="t" l="l"/>
              <a:pathLst>
                <a:path h="564340" w="1187174">
                  <a:moveTo>
                    <a:pt x="14144" y="0"/>
                  </a:moveTo>
                  <a:lnTo>
                    <a:pt x="1173030" y="0"/>
                  </a:lnTo>
                  <a:cubicBezTo>
                    <a:pt x="1180841" y="0"/>
                    <a:pt x="1187174" y="6333"/>
                    <a:pt x="1187174" y="14144"/>
                  </a:cubicBezTo>
                  <a:lnTo>
                    <a:pt x="1187174" y="550195"/>
                  </a:lnTo>
                  <a:cubicBezTo>
                    <a:pt x="1187174" y="553947"/>
                    <a:pt x="1185684" y="557544"/>
                    <a:pt x="1183031" y="560197"/>
                  </a:cubicBezTo>
                  <a:cubicBezTo>
                    <a:pt x="1180379" y="562850"/>
                    <a:pt x="1176781" y="564340"/>
                    <a:pt x="1173030" y="564340"/>
                  </a:cubicBezTo>
                  <a:lnTo>
                    <a:pt x="14144" y="564340"/>
                  </a:lnTo>
                  <a:cubicBezTo>
                    <a:pt x="10393" y="564340"/>
                    <a:pt x="6795" y="562850"/>
                    <a:pt x="4143" y="560197"/>
                  </a:cubicBezTo>
                  <a:cubicBezTo>
                    <a:pt x="1490" y="557544"/>
                    <a:pt x="0" y="553947"/>
                    <a:pt x="0" y="550195"/>
                  </a:cubicBezTo>
                  <a:lnTo>
                    <a:pt x="0" y="14144"/>
                  </a:lnTo>
                  <a:cubicBezTo>
                    <a:pt x="0" y="10393"/>
                    <a:pt x="1490" y="6795"/>
                    <a:pt x="4143" y="4143"/>
                  </a:cubicBezTo>
                  <a:cubicBezTo>
                    <a:pt x="6795" y="1490"/>
                    <a:pt x="10393" y="0"/>
                    <a:pt x="141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3" r="0" b="-9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55701" y="1080396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24088"/>
            <a:ext cx="5515802" cy="211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</a:pPr>
            <a:r>
              <a:rPr lang="en-US" b="true" sz="7994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EDA Highlights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2004" y="6192901"/>
            <a:ext cx="7662838" cy="366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6"/>
              </a:lnSpc>
            </a:pPr>
            <a:r>
              <a:rPr lang="en-US" b="true" sz="2340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Historical NAV Trend</a:t>
            </a:r>
          </a:p>
          <a:p>
            <a:pPr algn="l" marL="0" indent="0" lvl="0">
              <a:lnSpc>
                <a:spcPts val="3276"/>
              </a:lnSpc>
            </a:pPr>
            <a:r>
              <a:rPr lang="en-US" sz="234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Line chart showing long-term NAV growth across top mutual fund categories, revealing consistent upward trends over 5+ years.</a:t>
            </a:r>
          </a:p>
          <a:p>
            <a:pPr algn="l" marL="0" indent="0" lvl="0">
              <a:lnSpc>
                <a:spcPts val="3276"/>
              </a:lnSpc>
            </a:pPr>
          </a:p>
          <a:p>
            <a:pPr algn="l" marL="0" indent="0" lvl="0">
              <a:lnSpc>
                <a:spcPts val="3276"/>
              </a:lnSpc>
            </a:pPr>
            <a:r>
              <a:rPr lang="en-US" b="true" sz="2340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Monthly SIP Growth</a:t>
            </a:r>
          </a:p>
          <a:p>
            <a:pPr algn="l" marL="0" indent="0" lvl="0">
              <a:lnSpc>
                <a:spcPts val="3276"/>
              </a:lnSpc>
            </a:pPr>
            <a:r>
              <a:rPr lang="en-US" sz="234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Bar chart illustrating month-over-month SIP inflow volumes, highlighting accelerating retail investor participation.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8103" y="6192901"/>
            <a:ext cx="7662838" cy="383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9"/>
              </a:lnSpc>
            </a:pPr>
            <a:r>
              <a:rPr lang="en-US" b="true" sz="2435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Industry AUM Growth</a:t>
            </a:r>
          </a:p>
          <a:p>
            <a:pPr algn="l" marL="0" indent="0" lvl="0">
              <a:lnSpc>
                <a:spcPts val="3409"/>
              </a:lnSpc>
            </a:pPr>
            <a:r>
              <a:rPr lang="en-US" sz="2435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Area chart depicting cumulative Assets Under Management growth across fund houses, showing sector-wide expansion over time.</a:t>
            </a:r>
          </a:p>
          <a:p>
            <a:pPr algn="l" marL="0" indent="0" lvl="0">
              <a:lnSpc>
                <a:spcPts val="3409"/>
              </a:lnSpc>
            </a:pPr>
          </a:p>
          <a:p>
            <a:pPr algn="l" marL="0" indent="0" lvl="0">
              <a:lnSpc>
                <a:spcPts val="3409"/>
              </a:lnSpc>
            </a:pPr>
            <a:r>
              <a:rPr lang="en-US" b="true" sz="2435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Category-wise Inflows</a:t>
            </a:r>
          </a:p>
          <a:p>
            <a:pPr algn="l" marL="0" indent="0" lvl="0">
              <a:lnSpc>
                <a:spcPts val="3409"/>
              </a:lnSpc>
            </a:pPr>
            <a:r>
              <a:rPr lang="en-US" sz="2435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Stacked bar and pie charts breaking down fund inflows by category — Equity, Debt, Hybrid — to reveal investor allocation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1789" y="709278"/>
            <a:ext cx="988706" cy="970348"/>
          </a:xfrm>
          <a:custGeom>
            <a:avLst/>
            <a:gdLst/>
            <a:ahLst/>
            <a:cxnLst/>
            <a:rect r="r" b="b" t="t" l="l"/>
            <a:pathLst>
              <a:path h="970348" w="988706">
                <a:moveTo>
                  <a:pt x="0" y="0"/>
                </a:moveTo>
                <a:lnTo>
                  <a:pt x="988707" y="0"/>
                </a:lnTo>
                <a:lnTo>
                  <a:pt x="988707" y="970348"/>
                </a:lnTo>
                <a:lnTo>
                  <a:pt x="0" y="970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43500"/>
            <a:ext cx="3928440" cy="2009215"/>
            <a:chOff x="0" y="0"/>
            <a:chExt cx="1034651" cy="5291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28590" y="5143500"/>
            <a:ext cx="3928440" cy="2009215"/>
            <a:chOff x="0" y="0"/>
            <a:chExt cx="1034651" cy="529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28481" y="5143500"/>
            <a:ext cx="3928440" cy="2009215"/>
            <a:chOff x="0" y="0"/>
            <a:chExt cx="1034651" cy="529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0860" y="5143500"/>
            <a:ext cx="3928440" cy="2009215"/>
            <a:chOff x="0" y="0"/>
            <a:chExt cx="1034651" cy="5291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4651" cy="529176"/>
            </a:xfrm>
            <a:custGeom>
              <a:avLst/>
              <a:gdLst/>
              <a:ahLst/>
              <a:cxnLst/>
              <a:rect r="r" b="b" t="t" l="l"/>
              <a:pathLst>
                <a:path h="529176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499615"/>
                  </a:lnTo>
                  <a:cubicBezTo>
                    <a:pt x="1034651" y="507455"/>
                    <a:pt x="1031537" y="514974"/>
                    <a:pt x="1025993" y="520518"/>
                  </a:cubicBezTo>
                  <a:cubicBezTo>
                    <a:pt x="1020449" y="526062"/>
                    <a:pt x="1012930" y="529176"/>
                    <a:pt x="1005090" y="529176"/>
                  </a:cubicBezTo>
                  <a:lnTo>
                    <a:pt x="29561" y="529176"/>
                  </a:lnTo>
                  <a:cubicBezTo>
                    <a:pt x="21721" y="529176"/>
                    <a:pt x="14202" y="526062"/>
                    <a:pt x="8658" y="520518"/>
                  </a:cubicBezTo>
                  <a:cubicBezTo>
                    <a:pt x="3114" y="514974"/>
                    <a:pt x="0" y="507455"/>
                    <a:pt x="0" y="499615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4651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706187"/>
            <a:ext cx="3928440" cy="2552113"/>
            <a:chOff x="0" y="0"/>
            <a:chExt cx="1034651" cy="6721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28590" y="6706187"/>
            <a:ext cx="3928440" cy="2552113"/>
            <a:chOff x="0" y="0"/>
            <a:chExt cx="1034651" cy="6721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28481" y="6706187"/>
            <a:ext cx="3928440" cy="2552113"/>
            <a:chOff x="0" y="0"/>
            <a:chExt cx="1034651" cy="6721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330860" y="6706187"/>
            <a:ext cx="3928440" cy="2552113"/>
            <a:chOff x="0" y="0"/>
            <a:chExt cx="1034651" cy="6721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4651" cy="672161"/>
            </a:xfrm>
            <a:custGeom>
              <a:avLst/>
              <a:gdLst/>
              <a:ahLst/>
              <a:cxnLst/>
              <a:rect r="r" b="b" t="t" l="l"/>
              <a:pathLst>
                <a:path h="672161" w="1034651">
                  <a:moveTo>
                    <a:pt x="29561" y="0"/>
                  </a:moveTo>
                  <a:lnTo>
                    <a:pt x="1005090" y="0"/>
                  </a:lnTo>
                  <a:cubicBezTo>
                    <a:pt x="1012930" y="0"/>
                    <a:pt x="1020449" y="3114"/>
                    <a:pt x="1025993" y="8658"/>
                  </a:cubicBezTo>
                  <a:cubicBezTo>
                    <a:pt x="1031537" y="14202"/>
                    <a:pt x="1034651" y="21721"/>
                    <a:pt x="1034651" y="29561"/>
                  </a:cubicBezTo>
                  <a:lnTo>
                    <a:pt x="1034651" y="642600"/>
                  </a:lnTo>
                  <a:cubicBezTo>
                    <a:pt x="1034651" y="650440"/>
                    <a:pt x="1031537" y="657959"/>
                    <a:pt x="1025993" y="663503"/>
                  </a:cubicBezTo>
                  <a:cubicBezTo>
                    <a:pt x="1020449" y="669047"/>
                    <a:pt x="1012930" y="672161"/>
                    <a:pt x="1005090" y="672161"/>
                  </a:cubicBezTo>
                  <a:lnTo>
                    <a:pt x="29561" y="672161"/>
                  </a:lnTo>
                  <a:cubicBezTo>
                    <a:pt x="21721" y="672161"/>
                    <a:pt x="14202" y="669047"/>
                    <a:pt x="8658" y="663503"/>
                  </a:cubicBezTo>
                  <a:cubicBezTo>
                    <a:pt x="3114" y="657959"/>
                    <a:pt x="0" y="650440"/>
                    <a:pt x="0" y="642600"/>
                  </a:cubicBezTo>
                  <a:lnTo>
                    <a:pt x="0" y="29561"/>
                  </a:lnTo>
                  <a:cubicBezTo>
                    <a:pt x="0" y="21721"/>
                    <a:pt x="3114" y="14202"/>
                    <a:pt x="8658" y="8658"/>
                  </a:cubicBezTo>
                  <a:cubicBezTo>
                    <a:pt x="14202" y="3114"/>
                    <a:pt x="21721" y="0"/>
                    <a:pt x="29561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34651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2711674" y="6480088"/>
            <a:ext cx="562492" cy="452200"/>
            <a:chOff x="0" y="0"/>
            <a:chExt cx="647700" cy="520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6811565" y="6480088"/>
            <a:ext cx="562492" cy="452200"/>
            <a:chOff x="0" y="0"/>
            <a:chExt cx="647700" cy="520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10912699" y="6480088"/>
            <a:ext cx="562492" cy="452200"/>
            <a:chOff x="0" y="0"/>
            <a:chExt cx="647700" cy="520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15006775" y="6480088"/>
            <a:ext cx="562492" cy="452200"/>
            <a:chOff x="0" y="0"/>
            <a:chExt cx="647700" cy="520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430452" y="1028700"/>
            <a:ext cx="8828848" cy="3169420"/>
            <a:chOff x="0" y="0"/>
            <a:chExt cx="1367820" cy="49102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67820" cy="491026"/>
            </a:xfrm>
            <a:custGeom>
              <a:avLst/>
              <a:gdLst/>
              <a:ahLst/>
              <a:cxnLst/>
              <a:rect r="r" b="b" t="t" l="l"/>
              <a:pathLst>
                <a:path h="491026" w="1367820">
                  <a:moveTo>
                    <a:pt x="12276" y="0"/>
                  </a:moveTo>
                  <a:lnTo>
                    <a:pt x="1355543" y="0"/>
                  </a:lnTo>
                  <a:cubicBezTo>
                    <a:pt x="1358799" y="0"/>
                    <a:pt x="1361922" y="1293"/>
                    <a:pt x="1364224" y="3596"/>
                  </a:cubicBezTo>
                  <a:cubicBezTo>
                    <a:pt x="1366526" y="5898"/>
                    <a:pt x="1367820" y="9021"/>
                    <a:pt x="1367820" y="12276"/>
                  </a:cubicBezTo>
                  <a:lnTo>
                    <a:pt x="1367820" y="478750"/>
                  </a:lnTo>
                  <a:cubicBezTo>
                    <a:pt x="1367820" y="482006"/>
                    <a:pt x="1366526" y="485128"/>
                    <a:pt x="1364224" y="487430"/>
                  </a:cubicBezTo>
                  <a:cubicBezTo>
                    <a:pt x="1361922" y="489733"/>
                    <a:pt x="1358799" y="491026"/>
                    <a:pt x="1355543" y="491026"/>
                  </a:cubicBezTo>
                  <a:lnTo>
                    <a:pt x="12276" y="491026"/>
                  </a:lnTo>
                  <a:cubicBezTo>
                    <a:pt x="9021" y="491026"/>
                    <a:pt x="5898" y="489733"/>
                    <a:pt x="3596" y="487430"/>
                  </a:cubicBezTo>
                  <a:cubicBezTo>
                    <a:pt x="1293" y="485128"/>
                    <a:pt x="0" y="482006"/>
                    <a:pt x="0" y="478750"/>
                  </a:cubicBezTo>
                  <a:lnTo>
                    <a:pt x="0" y="12276"/>
                  </a:lnTo>
                  <a:cubicBezTo>
                    <a:pt x="0" y="9021"/>
                    <a:pt x="1293" y="5898"/>
                    <a:pt x="3596" y="3596"/>
                  </a:cubicBezTo>
                  <a:cubicBezTo>
                    <a:pt x="5898" y="1293"/>
                    <a:pt x="9021" y="0"/>
                    <a:pt x="12276" y="0"/>
                  </a:cubicBezTo>
                  <a:close/>
                </a:path>
              </a:pathLst>
            </a:custGeom>
            <a:blipFill>
              <a:blip r:embed="rId3"/>
              <a:stretch>
                <a:fillRect l="-383" t="0" r="-383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255701" y="1080396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2349" y="5476777"/>
            <a:ext cx="3121143" cy="39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b="true" sz="23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AUM Growth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16212" y="5476777"/>
            <a:ext cx="3121143" cy="39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b="true" sz="23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SIP Dominance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19006" y="5476777"/>
            <a:ext cx="3121143" cy="39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b="true" sz="23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Equity Inflows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14256" y="7463870"/>
            <a:ext cx="3121143" cy="10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4"/>
              </a:lnSpc>
            </a:pPr>
            <a:r>
              <a:rPr lang="en-US" b="true" sz="2060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Equity funds attract the highest category-wise inflows consistently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14146" y="7449353"/>
            <a:ext cx="3121143" cy="14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4"/>
              </a:lnSpc>
            </a:pPr>
            <a:r>
              <a:rPr lang="en-US" b="true" sz="2060">
                <a:solidFill>
                  <a:srgbClr val="F4F9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Historical NAV data reveals stable long-term growth across top funds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814146" y="5476777"/>
            <a:ext cx="3121143" cy="39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b="true" sz="23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NAV Trend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2324088"/>
            <a:ext cx="5515802" cy="211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</a:pPr>
            <a:r>
              <a:rPr lang="en-US" b="true" sz="7994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EDA Insights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32349" y="7496978"/>
            <a:ext cx="3089090" cy="102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</a:pPr>
            <a:r>
              <a:rPr lang="en-US" b="true" sz="205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Assets Under Management show consistent year-over-year increase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48266" y="7496978"/>
            <a:ext cx="3089090" cy="102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</a:pPr>
            <a:r>
              <a:rPr lang="en-US" b="true" sz="205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SIP transactions dominate investor activity across all fund types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2352" y="669492"/>
            <a:ext cx="1009607" cy="1014569"/>
          </a:xfrm>
          <a:custGeom>
            <a:avLst/>
            <a:gdLst/>
            <a:ahLst/>
            <a:cxnLst/>
            <a:rect r="r" b="b" t="t" l="l"/>
            <a:pathLst>
              <a:path h="1014569" w="1009607">
                <a:moveTo>
                  <a:pt x="0" y="0"/>
                </a:moveTo>
                <a:lnTo>
                  <a:pt x="1009607" y="0"/>
                </a:lnTo>
                <a:lnTo>
                  <a:pt x="1009607" y="1014569"/>
                </a:lnTo>
                <a:lnTo>
                  <a:pt x="0" y="1014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43500"/>
            <a:ext cx="3022616" cy="2009215"/>
            <a:chOff x="0" y="0"/>
            <a:chExt cx="796080" cy="5291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32692" y="5143500"/>
            <a:ext cx="3022616" cy="2009215"/>
            <a:chOff x="0" y="0"/>
            <a:chExt cx="796080" cy="529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30696" y="5143500"/>
            <a:ext cx="3022616" cy="2009215"/>
            <a:chOff x="0" y="0"/>
            <a:chExt cx="796080" cy="529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31533" y="5143500"/>
            <a:ext cx="3022616" cy="2009215"/>
            <a:chOff x="0" y="0"/>
            <a:chExt cx="796080" cy="5291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30373" y="5143500"/>
            <a:ext cx="3022616" cy="2009215"/>
            <a:chOff x="0" y="0"/>
            <a:chExt cx="796080" cy="529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6706187"/>
            <a:ext cx="3022616" cy="2552113"/>
            <a:chOff x="0" y="0"/>
            <a:chExt cx="796080" cy="6721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32692" y="6706187"/>
            <a:ext cx="3022616" cy="2552113"/>
            <a:chOff x="0" y="0"/>
            <a:chExt cx="796080" cy="6721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330696" y="6706187"/>
            <a:ext cx="3022616" cy="2552113"/>
            <a:chOff x="0" y="0"/>
            <a:chExt cx="796080" cy="6721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31533" y="6706187"/>
            <a:ext cx="3022616" cy="2552113"/>
            <a:chOff x="0" y="0"/>
            <a:chExt cx="796080" cy="6721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230373" y="6706187"/>
            <a:ext cx="3022616" cy="2552113"/>
            <a:chOff x="0" y="0"/>
            <a:chExt cx="796080" cy="6721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2258762" y="6480088"/>
            <a:ext cx="562492" cy="452200"/>
            <a:chOff x="0" y="0"/>
            <a:chExt cx="647700" cy="520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8862754" y="6480088"/>
            <a:ext cx="562492" cy="452200"/>
            <a:chOff x="0" y="0"/>
            <a:chExt cx="647700" cy="520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5560758" y="6480088"/>
            <a:ext cx="562492" cy="452200"/>
            <a:chOff x="0" y="0"/>
            <a:chExt cx="647700" cy="520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2161595" y="6480088"/>
            <a:ext cx="562492" cy="452200"/>
            <a:chOff x="0" y="0"/>
            <a:chExt cx="647700" cy="520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-5400000">
            <a:off x="15460435" y="6480088"/>
            <a:ext cx="562492" cy="452200"/>
            <a:chOff x="0" y="0"/>
            <a:chExt cx="647700" cy="520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255701" y="1080396"/>
            <a:ext cx="397623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2421" y="2599726"/>
            <a:ext cx="16275357" cy="112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</a:pPr>
            <a:r>
              <a:rPr lang="en-US" b="true" sz="7994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Financial Performance Metrics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36098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Returns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940090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Sharpe Ratio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38094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CAGR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38931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Alpha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537771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Beta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32349" y="7705165"/>
            <a:ext cx="2145834" cy="7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6"/>
              </a:lnSpc>
            </a:pPr>
            <a:r>
              <a:rPr lang="en-US" b="true" sz="56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0.12%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769621" y="7705165"/>
            <a:ext cx="2145834" cy="7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6"/>
              </a:lnSpc>
            </a:pPr>
            <a:r>
              <a:rPr lang="en-US" b="true" sz="56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14.3%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067687" y="7705165"/>
            <a:ext cx="2145834" cy="7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6"/>
              </a:lnSpc>
            </a:pPr>
            <a:r>
              <a:rPr lang="en-US" b="true" sz="56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1.82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07783" y="7705165"/>
            <a:ext cx="2145834" cy="7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6"/>
              </a:lnSpc>
            </a:pPr>
            <a:r>
              <a:rPr lang="en-US" b="true" sz="56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+2.4%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06623" y="7705165"/>
            <a:ext cx="2145834" cy="7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6"/>
              </a:lnSpc>
            </a:pPr>
            <a:r>
              <a:rPr lang="en-US" b="true" sz="561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0.76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022616" cy="2009215"/>
            <a:chOff x="0" y="0"/>
            <a:chExt cx="796080" cy="529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2692" y="5143500"/>
            <a:ext cx="3022616" cy="2009215"/>
            <a:chOff x="0" y="0"/>
            <a:chExt cx="796080" cy="529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30696" y="5143500"/>
            <a:ext cx="3022616" cy="2009215"/>
            <a:chOff x="0" y="0"/>
            <a:chExt cx="796080" cy="529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31533" y="5143500"/>
            <a:ext cx="3022616" cy="2009215"/>
            <a:chOff x="0" y="0"/>
            <a:chExt cx="796080" cy="529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30373" y="5143500"/>
            <a:ext cx="3022616" cy="2009215"/>
            <a:chOff x="0" y="0"/>
            <a:chExt cx="796080" cy="529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6706187"/>
            <a:ext cx="3022616" cy="2552113"/>
            <a:chOff x="0" y="0"/>
            <a:chExt cx="796080" cy="672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32692" y="6706187"/>
            <a:ext cx="3022616" cy="2552113"/>
            <a:chOff x="0" y="0"/>
            <a:chExt cx="796080" cy="6721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30696" y="6706187"/>
            <a:ext cx="3022616" cy="2552113"/>
            <a:chOff x="0" y="0"/>
            <a:chExt cx="796080" cy="672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31533" y="6706187"/>
            <a:ext cx="3022616" cy="2552113"/>
            <a:chOff x="0" y="0"/>
            <a:chExt cx="796080" cy="6721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30373" y="6706187"/>
            <a:ext cx="3022616" cy="2552113"/>
            <a:chOff x="0" y="0"/>
            <a:chExt cx="796080" cy="6721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2258762" y="6480088"/>
            <a:ext cx="562492" cy="452200"/>
            <a:chOff x="0" y="0"/>
            <a:chExt cx="647700" cy="520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8862754" y="6480088"/>
            <a:ext cx="562492" cy="452200"/>
            <a:chOff x="0" y="0"/>
            <a:chExt cx="647700" cy="520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5560758" y="6480088"/>
            <a:ext cx="562492" cy="452200"/>
            <a:chOff x="0" y="0"/>
            <a:chExt cx="647700" cy="520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12161595" y="6480088"/>
            <a:ext cx="562492" cy="452200"/>
            <a:chOff x="0" y="0"/>
            <a:chExt cx="647700" cy="520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15460435" y="6480088"/>
            <a:ext cx="562492" cy="452200"/>
            <a:chOff x="0" y="0"/>
            <a:chExt cx="647700" cy="520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058723" y="1262502"/>
            <a:ext cx="6575057" cy="21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</a:pPr>
            <a:r>
              <a:rPr lang="en-US" b="true" sz="800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Advanced</a:t>
            </a:r>
          </a:p>
          <a:p>
            <a:pPr algn="l" marL="0" indent="0" lvl="0">
              <a:lnSpc>
                <a:spcPts val="7840"/>
              </a:lnSpc>
            </a:pPr>
            <a:r>
              <a:rPr lang="en-US" b="true" sz="800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Analytics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6098" y="5476777"/>
            <a:ext cx="2408888" cy="70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Value at Risk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(VaR)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40090" y="5476777"/>
            <a:ext cx="2408888" cy="70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Rolling 90-Day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Sharpe Ratio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38094" y="5476777"/>
            <a:ext cx="2408888" cy="70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Conditional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 (CVaR)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38931" y="5476777"/>
            <a:ext cx="2408888" cy="70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Investor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Cohort Analysis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537771" y="5476777"/>
            <a:ext cx="2408888" cy="105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SIP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Continuation</a:t>
            </a:r>
          </a:p>
          <a:p>
            <a:pPr algn="ctr" marL="0" indent="0" lvl="0">
              <a:lnSpc>
                <a:spcPts val="2830"/>
              </a:lnSpc>
            </a:pPr>
            <a:r>
              <a:rPr lang="en-US" b="true" sz="202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2349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📉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769621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⚠️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67687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📈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0778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👥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0662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💹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882352" y="669492"/>
            <a:ext cx="1009607" cy="1014569"/>
          </a:xfrm>
          <a:custGeom>
            <a:avLst/>
            <a:gdLst/>
            <a:ahLst/>
            <a:cxnLst/>
            <a:rect r="r" b="b" t="t" l="l"/>
            <a:pathLst>
              <a:path h="1014569" w="1009607">
                <a:moveTo>
                  <a:pt x="0" y="0"/>
                </a:moveTo>
                <a:lnTo>
                  <a:pt x="1009607" y="0"/>
                </a:lnTo>
                <a:lnTo>
                  <a:pt x="1009607" y="1014569"/>
                </a:lnTo>
                <a:lnTo>
                  <a:pt x="0" y="1014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2313908" y="981075"/>
            <a:ext cx="397623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6127" y="640180"/>
            <a:ext cx="1026226" cy="1063641"/>
          </a:xfrm>
          <a:custGeom>
            <a:avLst/>
            <a:gdLst/>
            <a:ahLst/>
            <a:cxnLst/>
            <a:rect r="r" b="b" t="t" l="l"/>
            <a:pathLst>
              <a:path h="1063641" w="1026226">
                <a:moveTo>
                  <a:pt x="0" y="0"/>
                </a:moveTo>
                <a:lnTo>
                  <a:pt x="1026226" y="0"/>
                </a:lnTo>
                <a:lnTo>
                  <a:pt x="1026226" y="1063641"/>
                </a:lnTo>
                <a:lnTo>
                  <a:pt x="0" y="106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96462" y="1128021"/>
            <a:ext cx="7662838" cy="3642637"/>
            <a:chOff x="0" y="0"/>
            <a:chExt cx="1187174" cy="564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174" cy="564340"/>
            </a:xfrm>
            <a:custGeom>
              <a:avLst/>
              <a:gdLst/>
              <a:ahLst/>
              <a:cxnLst/>
              <a:rect r="r" b="b" t="t" l="l"/>
              <a:pathLst>
                <a:path h="564340" w="1187174">
                  <a:moveTo>
                    <a:pt x="14144" y="0"/>
                  </a:moveTo>
                  <a:lnTo>
                    <a:pt x="1173030" y="0"/>
                  </a:lnTo>
                  <a:cubicBezTo>
                    <a:pt x="1180841" y="0"/>
                    <a:pt x="1187174" y="6333"/>
                    <a:pt x="1187174" y="14144"/>
                  </a:cubicBezTo>
                  <a:lnTo>
                    <a:pt x="1187174" y="550195"/>
                  </a:lnTo>
                  <a:cubicBezTo>
                    <a:pt x="1187174" y="553947"/>
                    <a:pt x="1185684" y="557544"/>
                    <a:pt x="1183031" y="560197"/>
                  </a:cubicBezTo>
                  <a:cubicBezTo>
                    <a:pt x="1180379" y="562850"/>
                    <a:pt x="1176781" y="564340"/>
                    <a:pt x="1173030" y="564340"/>
                  </a:cubicBezTo>
                  <a:lnTo>
                    <a:pt x="14144" y="564340"/>
                  </a:lnTo>
                  <a:cubicBezTo>
                    <a:pt x="10393" y="564340"/>
                    <a:pt x="6795" y="562850"/>
                    <a:pt x="4143" y="560197"/>
                  </a:cubicBezTo>
                  <a:cubicBezTo>
                    <a:pt x="1490" y="557544"/>
                    <a:pt x="0" y="553947"/>
                    <a:pt x="0" y="550195"/>
                  </a:cubicBezTo>
                  <a:lnTo>
                    <a:pt x="0" y="14144"/>
                  </a:lnTo>
                  <a:cubicBezTo>
                    <a:pt x="0" y="10393"/>
                    <a:pt x="1490" y="6795"/>
                    <a:pt x="4143" y="4143"/>
                  </a:cubicBezTo>
                  <a:cubicBezTo>
                    <a:pt x="6795" y="1490"/>
                    <a:pt x="10393" y="0"/>
                    <a:pt x="1414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3" r="0" b="-9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55701" y="1080396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33613"/>
            <a:ext cx="5515802" cy="294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7"/>
              </a:lnSpc>
            </a:pPr>
            <a:r>
              <a:rPr lang="en-US" b="true" sz="765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Dashboard Overview</a:t>
            </a:r>
          </a:p>
          <a:p>
            <a:pPr algn="l" marL="0" indent="0" lvl="0">
              <a:lnSpc>
                <a:spcPts val="7497"/>
              </a:lnSpc>
            </a:pPr>
            <a:r>
              <a:rPr lang="en-US" b="true" sz="765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Part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352" y="6572150"/>
            <a:ext cx="7662838" cy="298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4"/>
              </a:lnSpc>
            </a:pPr>
            <a:r>
              <a:rPr lang="en-US" b="true" sz="243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Industry Overview Dashboard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Total AUM by fund category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Fund house market share KPIs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Sector-wise inflow filters &amp; slicers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Interactive tooltips for data details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Dynamic trend visualizations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Benchmark comparison overlays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462" y="6572150"/>
            <a:ext cx="7662838" cy="298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4"/>
              </a:lnSpc>
            </a:pPr>
            <a:r>
              <a:rPr lang="en-US" b="true" sz="243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Fund Performance Dashboard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CAGR &amp; Sharpe Ratio KPI cards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NAV trend line chart visualizations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Risk-return scatter plot with filters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Fund score ranking with slicers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Drill-through to fund-level detail</a:t>
            </a:r>
          </a:p>
          <a:p>
            <a:pPr algn="l" marL="0" indent="0" lvl="0">
              <a:lnSpc>
                <a:spcPts val="3404"/>
              </a:lnSpc>
            </a:pPr>
            <a:r>
              <a:rPr lang="en-US" sz="243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● Interactive tooltips &amp; annotations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96462" y="1128021"/>
            <a:ext cx="7662838" cy="3642637"/>
            <a:chOff x="0" y="0"/>
            <a:chExt cx="1187174" cy="564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174" cy="564340"/>
            </a:xfrm>
            <a:custGeom>
              <a:avLst/>
              <a:gdLst/>
              <a:ahLst/>
              <a:cxnLst/>
              <a:rect r="r" b="b" t="t" l="l"/>
              <a:pathLst>
                <a:path h="564340" w="1187174">
                  <a:moveTo>
                    <a:pt x="14144" y="0"/>
                  </a:moveTo>
                  <a:lnTo>
                    <a:pt x="1173030" y="0"/>
                  </a:lnTo>
                  <a:cubicBezTo>
                    <a:pt x="1180841" y="0"/>
                    <a:pt x="1187174" y="6333"/>
                    <a:pt x="1187174" y="14144"/>
                  </a:cubicBezTo>
                  <a:lnTo>
                    <a:pt x="1187174" y="550195"/>
                  </a:lnTo>
                  <a:cubicBezTo>
                    <a:pt x="1187174" y="553947"/>
                    <a:pt x="1185684" y="557544"/>
                    <a:pt x="1183031" y="560197"/>
                  </a:cubicBezTo>
                  <a:cubicBezTo>
                    <a:pt x="1180379" y="562850"/>
                    <a:pt x="1176781" y="564340"/>
                    <a:pt x="1173030" y="564340"/>
                  </a:cubicBezTo>
                  <a:lnTo>
                    <a:pt x="14144" y="564340"/>
                  </a:lnTo>
                  <a:cubicBezTo>
                    <a:pt x="10393" y="564340"/>
                    <a:pt x="6795" y="562850"/>
                    <a:pt x="4143" y="560197"/>
                  </a:cubicBezTo>
                  <a:cubicBezTo>
                    <a:pt x="1490" y="557544"/>
                    <a:pt x="0" y="553947"/>
                    <a:pt x="0" y="550195"/>
                  </a:cubicBezTo>
                  <a:lnTo>
                    <a:pt x="0" y="14144"/>
                  </a:lnTo>
                  <a:cubicBezTo>
                    <a:pt x="0" y="10393"/>
                    <a:pt x="1490" y="6795"/>
                    <a:pt x="4143" y="4143"/>
                  </a:cubicBezTo>
                  <a:cubicBezTo>
                    <a:pt x="6795" y="1490"/>
                    <a:pt x="10393" y="0"/>
                    <a:pt x="141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3" r="0" b="-9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55701" y="1080396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33613"/>
            <a:ext cx="6073923" cy="294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7"/>
              </a:lnSpc>
            </a:pPr>
            <a:r>
              <a:rPr lang="en-US" b="true" sz="765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Dashboard Overview</a:t>
            </a:r>
          </a:p>
          <a:p>
            <a:pPr algn="l" marL="0" indent="0" lvl="0">
              <a:lnSpc>
                <a:spcPts val="7497"/>
              </a:lnSpc>
            </a:pPr>
            <a:r>
              <a:rPr lang="en-US" b="true" sz="765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Part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645498"/>
            <a:ext cx="7662838" cy="261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Investor Analytics Dashboard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Drill-through capabilities for fund-level deep dives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Dynamic slicers to filter by investor segment, region, and risk profile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Cohort-based behavioral analysis views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SIP continuation and redemption trend visuals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462" y="6645498"/>
            <a:ext cx="7662838" cy="261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SIP &amp; Market Trends Dashboard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Benchmark comparison charts (fund vs. index)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Interactive reports with cross-filtering visuals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Monthly SIP inflow trend lines and growth metrics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• Category-wise and scheme-wise performance overlays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022616" cy="2009215"/>
            <a:chOff x="0" y="0"/>
            <a:chExt cx="796080" cy="529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2692" y="5143500"/>
            <a:ext cx="3022616" cy="2009215"/>
            <a:chOff x="0" y="0"/>
            <a:chExt cx="796080" cy="529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30696" y="5143500"/>
            <a:ext cx="3022616" cy="2009215"/>
            <a:chOff x="0" y="0"/>
            <a:chExt cx="796080" cy="529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31533" y="5143500"/>
            <a:ext cx="3022616" cy="2009215"/>
            <a:chOff x="0" y="0"/>
            <a:chExt cx="796080" cy="529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30373" y="5143500"/>
            <a:ext cx="3022616" cy="2009215"/>
            <a:chOff x="0" y="0"/>
            <a:chExt cx="796080" cy="529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080" cy="529176"/>
            </a:xfrm>
            <a:custGeom>
              <a:avLst/>
              <a:gdLst/>
              <a:ahLst/>
              <a:cxnLst/>
              <a:rect r="r" b="b" t="t" l="l"/>
              <a:pathLst>
                <a:path h="529176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490756"/>
                  </a:lnTo>
                  <a:cubicBezTo>
                    <a:pt x="796080" y="511975"/>
                    <a:pt x="778879" y="529176"/>
                    <a:pt x="757660" y="529176"/>
                  </a:cubicBezTo>
                  <a:lnTo>
                    <a:pt x="38420" y="529176"/>
                  </a:lnTo>
                  <a:cubicBezTo>
                    <a:pt x="17201" y="529176"/>
                    <a:pt x="0" y="511975"/>
                    <a:pt x="0" y="490756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96080" cy="576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6706187"/>
            <a:ext cx="3022616" cy="2552113"/>
            <a:chOff x="0" y="0"/>
            <a:chExt cx="796080" cy="672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32692" y="6706187"/>
            <a:ext cx="3022616" cy="2552113"/>
            <a:chOff x="0" y="0"/>
            <a:chExt cx="796080" cy="6721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30696" y="6706187"/>
            <a:ext cx="3022616" cy="2552113"/>
            <a:chOff x="0" y="0"/>
            <a:chExt cx="796080" cy="672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31533" y="6706187"/>
            <a:ext cx="3022616" cy="2552113"/>
            <a:chOff x="0" y="0"/>
            <a:chExt cx="796080" cy="6721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30373" y="6706187"/>
            <a:ext cx="3022616" cy="2552113"/>
            <a:chOff x="0" y="0"/>
            <a:chExt cx="796080" cy="6721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6080" cy="672161"/>
            </a:xfrm>
            <a:custGeom>
              <a:avLst/>
              <a:gdLst/>
              <a:ahLst/>
              <a:cxnLst/>
              <a:rect r="r" b="b" t="t" l="l"/>
              <a:pathLst>
                <a:path h="672161" w="796080">
                  <a:moveTo>
                    <a:pt x="38420" y="0"/>
                  </a:moveTo>
                  <a:lnTo>
                    <a:pt x="757660" y="0"/>
                  </a:lnTo>
                  <a:cubicBezTo>
                    <a:pt x="778879" y="0"/>
                    <a:pt x="796080" y="17201"/>
                    <a:pt x="796080" y="38420"/>
                  </a:cubicBezTo>
                  <a:lnTo>
                    <a:pt x="796080" y="633741"/>
                  </a:lnTo>
                  <a:cubicBezTo>
                    <a:pt x="796080" y="654960"/>
                    <a:pt x="778879" y="672161"/>
                    <a:pt x="757660" y="672161"/>
                  </a:cubicBezTo>
                  <a:lnTo>
                    <a:pt x="38420" y="672161"/>
                  </a:lnTo>
                  <a:cubicBezTo>
                    <a:pt x="17201" y="672161"/>
                    <a:pt x="0" y="654960"/>
                    <a:pt x="0" y="633741"/>
                  </a:cubicBezTo>
                  <a:lnTo>
                    <a:pt x="0" y="38420"/>
                  </a:lnTo>
                  <a:cubicBezTo>
                    <a:pt x="0" y="17201"/>
                    <a:pt x="17201" y="0"/>
                    <a:pt x="38420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96080" cy="71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2258762" y="6480088"/>
            <a:ext cx="562492" cy="452200"/>
            <a:chOff x="0" y="0"/>
            <a:chExt cx="647700" cy="520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8862754" y="6480088"/>
            <a:ext cx="562492" cy="452200"/>
            <a:chOff x="0" y="0"/>
            <a:chExt cx="647700" cy="520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5560758" y="6480088"/>
            <a:ext cx="562492" cy="452200"/>
            <a:chOff x="0" y="0"/>
            <a:chExt cx="647700" cy="520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12161595" y="6480088"/>
            <a:ext cx="562492" cy="452200"/>
            <a:chOff x="0" y="0"/>
            <a:chExt cx="647700" cy="520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15460435" y="6480088"/>
            <a:ext cx="562492" cy="452200"/>
            <a:chOff x="0" y="0"/>
            <a:chExt cx="647700" cy="520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7700" cy="520700"/>
            </a:xfrm>
            <a:custGeom>
              <a:avLst/>
              <a:gdLst/>
              <a:ahLst/>
              <a:cxnLst/>
              <a:rect r="r" b="b" t="t" l="l"/>
              <a:pathLst>
                <a:path h="520700" w="647700">
                  <a:moveTo>
                    <a:pt x="323850" y="0"/>
                  </a:moveTo>
                  <a:lnTo>
                    <a:pt x="647700" y="260350"/>
                  </a:lnTo>
                  <a:lnTo>
                    <a:pt x="323850" y="520700"/>
                  </a:lnTo>
                  <a:lnTo>
                    <a:pt x="0" y="2603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4F9F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89215" y="2262504"/>
            <a:ext cx="6978472" cy="112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</a:pPr>
            <a:r>
              <a:rPr lang="en-US" b="true" sz="8000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Findings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6098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ETL Pipeline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40090" y="5476777"/>
            <a:ext cx="240888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Risk Analysis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38094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Financial Metrics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38931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Investor Insights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537771" y="5476777"/>
            <a:ext cx="240888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Delivery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2349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✓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769621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✓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67687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✓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0778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✓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06623" y="7714690"/>
            <a:ext cx="2145834" cy="84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599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✓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936127" y="640180"/>
            <a:ext cx="1026226" cy="1063641"/>
          </a:xfrm>
          <a:custGeom>
            <a:avLst/>
            <a:gdLst/>
            <a:ahLst/>
            <a:cxnLst/>
            <a:rect r="r" b="b" t="t" l="l"/>
            <a:pathLst>
              <a:path h="1063641" w="1026226">
                <a:moveTo>
                  <a:pt x="0" y="0"/>
                </a:moveTo>
                <a:lnTo>
                  <a:pt x="1026226" y="0"/>
                </a:lnTo>
                <a:lnTo>
                  <a:pt x="1026226" y="1063641"/>
                </a:lnTo>
                <a:lnTo>
                  <a:pt x="0" y="106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2313908" y="1097279"/>
            <a:ext cx="39762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Mutual Fund Analytics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57501" y="8066575"/>
            <a:ext cx="0" cy="867546"/>
          </a:xfrm>
          <a:prstGeom prst="line">
            <a:avLst/>
          </a:prstGeom>
          <a:ln cap="rnd" w="57150">
            <a:solidFill>
              <a:srgbClr val="60A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191726" y="1580598"/>
            <a:ext cx="7244181" cy="72441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9354" y="-4277500"/>
            <a:ext cx="7116554" cy="71165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1726" y="6977077"/>
            <a:ext cx="7244181" cy="72441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074244"/>
            <a:ext cx="9537689" cy="19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804"/>
              </a:lnSpc>
            </a:pPr>
            <a:r>
              <a:rPr lang="en-US" b="true" sz="10575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4563" y="8163480"/>
            <a:ext cx="3976232" cy="42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9"/>
              </a:lnSpc>
            </a:pPr>
            <a:r>
              <a:rPr lang="en-US" sz="2485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Python | SQLite |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DAHPXd_LrU4</dc:identifier>
  <dcterms:modified xsi:type="dcterms:W3CDTF">2011-08-01T06:04:30Z</dcterms:modified>
  <cp:revision>1</cp:revision>
  <dc:title>Mutual Fund Analytics Platform Overview</dc:title>
</cp:coreProperties>
</file>